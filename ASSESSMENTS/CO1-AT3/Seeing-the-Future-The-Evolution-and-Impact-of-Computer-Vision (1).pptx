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7" r:id="rId4"/>
    <p:sldId id="259" r:id="rId5"/>
    <p:sldId id="260" r:id="rId6"/>
    <p:sldId id="261" r:id="rId7"/>
  </p:sldIdLst>
  <p:sldSz cx="9144000" cy="5143500" type="screen16x9"/>
  <p:notesSz cx="5143500" cy="9144000"/>
  <p:embeddedFontLst>
    <p:embeddedFont>
      <p:font typeface="Prata" panose="020B0604020202020204" charset="0"/>
      <p:regular r:id="rId9"/>
    </p:embeddedFont>
    <p:embeddedFont>
      <p:font typeface="Raleway" pitchFamily="2" charset="0"/>
      <p:regular r:id="rId10"/>
      <p:italic r:id="rId11"/>
    </p:embeddedFont>
    <p:embeddedFont>
      <p:font typeface="Raleway Bold" panose="020B0604020202020204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1C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3647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74155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Seeing the Future: The Evolution and Impact of Computer Vision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11571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machines learned to see — and why it's transforming every industry on Earth.</a:t>
            </a:r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806FBE-6531-AE5A-03E4-534CDA6EDB50}"/>
              </a:ext>
            </a:extLst>
          </p:cNvPr>
          <p:cNvSpPr txBox="1"/>
          <p:nvPr/>
        </p:nvSpPr>
        <p:spPr>
          <a:xfrm>
            <a:off x="3285309" y="3781946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Mohammed Afnan</a:t>
            </a:r>
          </a:p>
          <a:p>
            <a:r>
              <a:rPr lang="en-US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192421317 </a:t>
            </a:r>
            <a:endParaRPr lang="en-IN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5162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Healthcare &amp; Agriculture: Saving Lives and Crops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18034"/>
            <a:ext cx="5181377" cy="293608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17270" y="1243459"/>
            <a:ext cx="873398" cy="208583"/>
          </a:xfrm>
          <a:prstGeom prst="roundRect">
            <a:avLst>
              <a:gd name="adj" fmla="val 7901"/>
            </a:avLst>
          </a:prstGeom>
          <a:solidFill>
            <a:srgbClr val="443D09"/>
          </a:solidFill>
          <a:ln/>
        </p:spPr>
      </p:sp>
      <p:sp>
        <p:nvSpPr>
          <p:cNvPr id="5" name="Text 2"/>
          <p:cNvSpPr/>
          <p:nvPr/>
        </p:nvSpPr>
        <p:spPr>
          <a:xfrm>
            <a:off x="6099646" y="1284610"/>
            <a:ext cx="1165845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HEALTHCARE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017270" y="1505248"/>
            <a:ext cx="263530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AI-Powered Diagnostics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17270" y="1852761"/>
            <a:ext cx="2635300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Computer vision detects tumours in X-rays and MRI scans with accuracy surpassing human radiologists, dramatically reducing diagnostic time and error rates.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017270" y="3084016"/>
            <a:ext cx="911796" cy="208583"/>
          </a:xfrm>
          <a:prstGeom prst="roundRect">
            <a:avLst>
              <a:gd name="adj" fmla="val 7901"/>
            </a:avLst>
          </a:prstGeom>
          <a:noFill/>
          <a:ln w="4763">
            <a:solidFill>
              <a:srgbClr val="EEE27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99646" y="3125167"/>
            <a:ext cx="1204243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EE2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AGRICULTURE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017270" y="3345805"/>
            <a:ext cx="263530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Precision Farming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017270" y="3693319"/>
            <a:ext cx="2635300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Drones and cameras monitor crop health, identify pest infestations, and automate irrigation — boosting yields while cutting water and chemical waste by up to 30%.</a:t>
            </a:r>
            <a:endParaRPr lang="en-US" sz="10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A10DA3-A0F5-BEDD-EB93-6422CDA63FF5}"/>
              </a:ext>
            </a:extLst>
          </p:cNvPr>
          <p:cNvSpPr/>
          <p:nvPr/>
        </p:nvSpPr>
        <p:spPr>
          <a:xfrm>
            <a:off x="7968343" y="4774474"/>
            <a:ext cx="1129937" cy="310243"/>
          </a:xfrm>
          <a:prstGeom prst="rect">
            <a:avLst/>
          </a:prstGeom>
          <a:solidFill>
            <a:srgbClr val="1B1C1D"/>
          </a:solidFill>
          <a:ln>
            <a:solidFill>
              <a:srgbClr val="1B1C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2573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From Early Logic to Modern Intelligence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655588" y="1624310"/>
            <a:ext cx="19050" cy="2993454"/>
          </a:xfrm>
          <a:prstGeom prst="roundRect">
            <a:avLst>
              <a:gd name="adj" fmla="val 111628"/>
            </a:avLst>
          </a:prstGeom>
          <a:solidFill>
            <a:srgbClr val="535455"/>
          </a:solidFill>
          <a:ln/>
        </p:spPr>
      </p:sp>
      <p:sp>
        <p:nvSpPr>
          <p:cNvPr id="5" name="Shape 2"/>
          <p:cNvSpPr/>
          <p:nvPr/>
        </p:nvSpPr>
        <p:spPr>
          <a:xfrm>
            <a:off x="796007" y="1774254"/>
            <a:ext cx="425276" cy="19050"/>
          </a:xfrm>
          <a:prstGeom prst="roundRect">
            <a:avLst>
              <a:gd name="adj" fmla="val 111628"/>
            </a:avLst>
          </a:prstGeom>
          <a:solidFill>
            <a:srgbClr val="535455"/>
          </a:solidFill>
          <a:ln/>
        </p:spPr>
      </p:sp>
      <p:sp>
        <p:nvSpPr>
          <p:cNvPr id="6" name="Shape 3"/>
          <p:cNvSpPr/>
          <p:nvPr/>
        </p:nvSpPr>
        <p:spPr>
          <a:xfrm>
            <a:off x="496119" y="1624310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sp>
        <p:nvSpPr>
          <p:cNvPr id="7" name="Text 4"/>
          <p:cNvSpPr/>
          <p:nvPr/>
        </p:nvSpPr>
        <p:spPr>
          <a:xfrm>
            <a:off x="549287" y="1650876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364382" y="1672977"/>
            <a:ext cx="38545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1960s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364382" y="1979488"/>
            <a:ext cx="38545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Foundations laid in medical imaging and basic pattern recognition — the first machines that could "see."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96007" y="2866579"/>
            <a:ext cx="425276" cy="19050"/>
          </a:xfrm>
          <a:prstGeom prst="roundRect">
            <a:avLst>
              <a:gd name="adj" fmla="val 111628"/>
            </a:avLst>
          </a:prstGeom>
          <a:solidFill>
            <a:srgbClr val="535455"/>
          </a:solidFill>
          <a:ln/>
        </p:spPr>
      </p:sp>
      <p:sp>
        <p:nvSpPr>
          <p:cNvPr id="11" name="Shape 8"/>
          <p:cNvSpPr/>
          <p:nvPr/>
        </p:nvSpPr>
        <p:spPr>
          <a:xfrm>
            <a:off x="496119" y="2716634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sp>
        <p:nvSpPr>
          <p:cNvPr id="12" name="Text 9"/>
          <p:cNvSpPr/>
          <p:nvPr/>
        </p:nvSpPr>
        <p:spPr>
          <a:xfrm>
            <a:off x="549287" y="2743200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364382" y="2765301"/>
            <a:ext cx="38545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1970s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364382" y="3071813"/>
            <a:ext cx="38545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Algorithms moved beyond labs into remote sensing and astronomy, expanding real-world applications.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96007" y="3958903"/>
            <a:ext cx="425276" cy="19050"/>
          </a:xfrm>
          <a:prstGeom prst="roundRect">
            <a:avLst>
              <a:gd name="adj" fmla="val 111628"/>
            </a:avLst>
          </a:prstGeom>
          <a:solidFill>
            <a:srgbClr val="535455"/>
          </a:solidFill>
          <a:ln/>
        </p:spPr>
      </p:sp>
      <p:sp>
        <p:nvSpPr>
          <p:cNvPr id="16" name="Shape 13"/>
          <p:cNvSpPr/>
          <p:nvPr/>
        </p:nvSpPr>
        <p:spPr>
          <a:xfrm>
            <a:off x="496119" y="3808958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sp>
        <p:nvSpPr>
          <p:cNvPr id="17" name="Text 14"/>
          <p:cNvSpPr/>
          <p:nvPr/>
        </p:nvSpPr>
        <p:spPr>
          <a:xfrm>
            <a:off x="549287" y="3835524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364382" y="3857625"/>
            <a:ext cx="38545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2010s–Today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364382" y="4164137"/>
            <a:ext cx="38545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Deep learning models like </a:t>
            </a: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ResNet</a:t>
            </a: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and </a:t>
            </a: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YOLO</a:t>
            </a: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enable real-time, large-scale visual analysis across industries.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4715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Surveillance, Autonomous Vehicles &amp; Retail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73659"/>
            <a:ext cx="1507480" cy="931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88250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Smart Surveillance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189015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Facial recognition and gait analysis enhance security, automate visitor logging, and flag anomalies in real time.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1773659"/>
            <a:ext cx="1507480" cy="9316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88250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Autonomous Vehicles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189015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environmental monitoring enables cars to identify pedestrians, read road signs, and navigate complex routes safely.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1773659"/>
            <a:ext cx="1507480" cy="9316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88250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Intelligent Retail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189015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Smart inventory tracking and heat-mapping customer movement optimize store layouts, reduce theft, and personalize shopping experiences.</a:t>
            </a:r>
            <a:endParaRPr lang="en-US" sz="1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1E90BA-CA06-3D88-61D3-63A4697358B1}"/>
              </a:ext>
            </a:extLst>
          </p:cNvPr>
          <p:cNvSpPr/>
          <p:nvPr/>
        </p:nvSpPr>
        <p:spPr>
          <a:xfrm>
            <a:off x="7968343" y="4774474"/>
            <a:ext cx="1129937" cy="310243"/>
          </a:xfrm>
          <a:prstGeom prst="rect">
            <a:avLst/>
          </a:prstGeom>
          <a:solidFill>
            <a:srgbClr val="1B1C1D"/>
          </a:solidFill>
          <a:ln>
            <a:solidFill>
              <a:srgbClr val="1B1C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21407"/>
            <a:ext cx="4722763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Horizon: A World Defined by Machine Vision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925119" y="1499592"/>
            <a:ext cx="4722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Computer vision is no longer experimental — it is a </a:t>
            </a:r>
            <a:r>
              <a:rPr lang="en-US" sz="10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pillar of modern infrastructure</a:t>
            </a: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from smart homes to global logistics.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925119" y="2096988"/>
            <a:ext cx="2292697" cy="1465287"/>
          </a:xfrm>
          <a:prstGeom prst="roundRect">
            <a:avLst>
              <a:gd name="adj" fmla="val 1429"/>
            </a:avLst>
          </a:prstGeom>
          <a:solidFill>
            <a:srgbClr val="3A3B3C"/>
          </a:solidFill>
          <a:ln/>
        </p:spPr>
      </p:sp>
      <p:sp>
        <p:nvSpPr>
          <p:cNvPr id="6" name="Text 3"/>
          <p:cNvSpPr/>
          <p:nvPr/>
        </p:nvSpPr>
        <p:spPr>
          <a:xfrm>
            <a:off x="4064645" y="2236515"/>
            <a:ext cx="201364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Ubiquitous Vision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64645" y="2536924"/>
            <a:ext cx="2013645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Machines interpreting visual data are revolutionizing every sector of the global economy.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355184" y="2096988"/>
            <a:ext cx="2292697" cy="1465287"/>
          </a:xfrm>
          <a:prstGeom prst="roundRect">
            <a:avLst>
              <a:gd name="adj" fmla="val 1429"/>
            </a:avLst>
          </a:prstGeom>
          <a:solidFill>
            <a:srgbClr val="3A3B3C"/>
          </a:solidFill>
          <a:ln/>
        </p:spPr>
      </p:sp>
      <p:sp>
        <p:nvSpPr>
          <p:cNvPr id="9" name="Text 6"/>
          <p:cNvSpPr/>
          <p:nvPr/>
        </p:nvSpPr>
        <p:spPr>
          <a:xfrm>
            <a:off x="6494711" y="2236515"/>
            <a:ext cx="201364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Ethical Responsibility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94711" y="2536924"/>
            <a:ext cx="201364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Invest in robust, ethical AI frameworks to ensure vision technology benefits </a:t>
            </a:r>
            <a:r>
              <a:rPr lang="en-US" sz="1050" i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all</a:t>
            </a: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of society.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925119" y="3699644"/>
            <a:ext cx="4722763" cy="1022375"/>
          </a:xfrm>
          <a:prstGeom prst="roundRect">
            <a:avLst>
              <a:gd name="adj" fmla="val 2047"/>
            </a:avLst>
          </a:prstGeom>
          <a:solidFill>
            <a:srgbClr val="3A3B3C"/>
          </a:solidFill>
          <a:ln/>
        </p:spPr>
      </p:sp>
      <p:sp>
        <p:nvSpPr>
          <p:cNvPr id="12" name="Text 9"/>
          <p:cNvSpPr/>
          <p:nvPr/>
        </p:nvSpPr>
        <p:spPr>
          <a:xfrm>
            <a:off x="4064645" y="3839170"/>
            <a:ext cx="444371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Next Frontier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64645" y="4139580"/>
            <a:ext cx="444371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From augmented reality to space exploration, machine vision will define the next century of innovation.</a:t>
            </a:r>
            <a:endParaRPr lang="en-US" sz="10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08E75B-B763-5901-69E2-97CB598EFC29}"/>
              </a:ext>
            </a:extLst>
          </p:cNvPr>
          <p:cNvSpPr/>
          <p:nvPr/>
        </p:nvSpPr>
        <p:spPr>
          <a:xfrm>
            <a:off x="7968343" y="4774474"/>
            <a:ext cx="1129937" cy="310243"/>
          </a:xfrm>
          <a:prstGeom prst="rect">
            <a:avLst/>
          </a:prstGeom>
          <a:solidFill>
            <a:srgbClr val="1B1C1D"/>
          </a:solidFill>
          <a:ln>
            <a:solidFill>
              <a:srgbClr val="1B1C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D2A7E6-4A8F-F1EA-5248-27E6719CCA86}"/>
              </a:ext>
            </a:extLst>
          </p:cNvPr>
          <p:cNvSpPr txBox="1"/>
          <p:nvPr/>
        </p:nvSpPr>
        <p:spPr>
          <a:xfrm>
            <a:off x="2286000" y="2156251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Thank You </a:t>
            </a:r>
            <a:endParaRPr lang="en-IN" sz="4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35C9A8-4659-CCDE-5301-73E791085DC9}"/>
              </a:ext>
            </a:extLst>
          </p:cNvPr>
          <p:cNvSpPr/>
          <p:nvPr/>
        </p:nvSpPr>
        <p:spPr>
          <a:xfrm>
            <a:off x="7968343" y="4774474"/>
            <a:ext cx="1129937" cy="310243"/>
          </a:xfrm>
          <a:prstGeom prst="rect">
            <a:avLst/>
          </a:prstGeom>
          <a:solidFill>
            <a:srgbClr val="1B1C1D"/>
          </a:solidFill>
          <a:ln>
            <a:solidFill>
              <a:srgbClr val="1B1C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214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316</Words>
  <Application>Microsoft Office PowerPoint</Application>
  <PresentationFormat>On-screen Show (16:9)</PresentationFormat>
  <Paragraphs>42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Raleway Bold</vt:lpstr>
      <vt:lpstr>Prata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Nitheesh Kondapalli</cp:lastModifiedBy>
  <cp:revision>3</cp:revision>
  <dcterms:created xsi:type="dcterms:W3CDTF">2026-07-16T04:36:56Z</dcterms:created>
  <dcterms:modified xsi:type="dcterms:W3CDTF">2026-07-16T04:41:07Z</dcterms:modified>
</cp:coreProperties>
</file>